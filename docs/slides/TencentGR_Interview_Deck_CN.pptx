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0e0818dfb4c39" /><Relationship Type="http://schemas.openxmlformats.org/officeDocument/2006/relationships/extended-properties" Target="/docProps/app.xml" Id="R27e73654503d4866" /><Relationship Type="http://schemas.openxmlformats.org/officeDocument/2006/relationships/officeDocument" Target="/ppt/presentation.xml" Id="R99a46445ff63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4a44857f84045"/>
  </p:sldMasterIdLst>
  <p:notesMasterIdLst>
    <p:notesMasterId xmlns:r="http://schemas.openxmlformats.org/officeDocument/2006/relationships" r:id="Rf2b3e0d08bd443b9"/>
  </p:notesMasterIdLst>
  <p:sldIdLst>
    <p:sldId xmlns:r="http://schemas.openxmlformats.org/officeDocument/2006/relationships" id="256" r:id="R5ce53b0d88294d49"/>
    <p:sldId xmlns:r="http://schemas.openxmlformats.org/officeDocument/2006/relationships" id="257" r:id="Re3f4646a75924b31"/>
    <p:sldId xmlns:r="http://schemas.openxmlformats.org/officeDocument/2006/relationships" id="258" r:id="R45c840f7002a47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ca855f435f4753" /><Relationship Type="http://schemas.openxmlformats.org/officeDocument/2006/relationships/slideMaster" Target="/ppt/slideMasters/slideMaster1.xml" Id="R1f94a44857f84045" /><Relationship Type="http://schemas.openxmlformats.org/officeDocument/2006/relationships/notesMaster" Target="/ppt/notesMasters/notesMaster1.xml" Id="Rf2b3e0d08bd443b9" /><Relationship Type="http://schemas.openxmlformats.org/officeDocument/2006/relationships/presProps" Target="/ppt/presProps.xml" Id="R1011144467204209" /><Relationship Type="http://schemas.openxmlformats.org/officeDocument/2006/relationships/tableStyles" Target="/ppt/tableStyles.xml" Id="R2758e2c4c5904299" /><Relationship Type="http://schemas.openxmlformats.org/officeDocument/2006/relationships/slide" Target="/ppt/slides/slide1.xml" Id="R5ce53b0d88294d49" /><Relationship Type="http://schemas.openxmlformats.org/officeDocument/2006/relationships/slide" Target="/ppt/slides/slide2.xml" Id="Re3f4646a75924b31" /><Relationship Type="http://schemas.openxmlformats.org/officeDocument/2006/relationships/slide" Target="/ppt/slides/slide3.xml" Id="R45c840f7002a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ac391894949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764e16168d4ba8" /><Relationship Type="http://schemas.openxmlformats.org/officeDocument/2006/relationships/notesMaster" Target="/ppt/notesMasters/notesMaster1.xml" Id="R3d48c66cee7547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a26de80df14326" /><Relationship Type="http://schemas.openxmlformats.org/officeDocument/2006/relationships/notesMaster" Target="/ppt/notesMasters/notesMaster1.xml" Id="R155e37c3a02b47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e0d58c3c734965" /><Relationship Type="http://schemas.openxmlformats.org/officeDocument/2006/relationships/notesMaster" Target="/ppt/notesMasters/notesMaster1.xml" Id="R3c2cdd002b18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页讲稿（约 55 秒）：这个项目的起点是 2025 腾讯广告算法大赛的 TencentGR-1M Baseline。数据规模是 100 万用户、478 万 Item 索引，官方评测候选约 66 万。原始代码给出了模型入口，但路径、设备和评测过程耦合较强，候选与 Item ID 还可能静默错位。我的第一步是先冻结证据口径：使用固定 seed 做用户划分，对验证用户保留最后一次点击，Query 只使用 Target 之前的历史；排除没有点击或 Target 不在候选池的用户后，得到 78,921 行固定评测人口。候选编码和 Query 编码之后用分块精确内积取 Top-10，避免 ANN 误差混入消融。代码、配置、预测、指标和哈希一起交付。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来源：README_CN.md；docs/ARCHITECTURE_AND_EXPERIMENTS_CN.md；metrics/four_way_comparison.json。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页讲稿（约 55 秒）：模型侧我没有直接堆功能，而是先回答两个可区分的问题。第一个问题是编码器差异：保持 4×128、特征、Batch、Epoch、优化器、seed 和评测人口不变，只切换 HSTU 与因果 Transformer。HSTU 综合分 0.06634，Transformer 0.06373，点估计提高 4.10%。第二个问题是当前资源范围内的容量扩展。HSTU 从 4×128 到 8×256，再到 8×512，综合分依次为 0.06634、0.07608 和 0.08335；8×512 相对 4×128 提高 25.63%。这里同时增加了深度和宽度，所以我只把它解释为整体 capacity scaling，不拆成单独的深度或宽度贡献。两组结论仍只有一个训练 seed，图上的区间只描述固定评测人口。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来源：metrics/onepiece_architecture_comparison.json；metrics/onepiece_scaling_comparison.json；docs/ONEPIECE_RESULTS.md；docs/ONEPIECE_SCALING_RESULTS.md。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页讲稿（约 70 秒）：第一轮在 8×512 HSTU 上加入两级 SID 辅助目标后，综合分从 0.08335 降到 0.07846，下降 5.87%。我没有把它写成 SID 无效，而是检查训练曲线和映射，发现 478 万 Item 中有 225 万发生 pair 碰撞，两个 SID 交叉熵还以等权方式直接加入主目标。修复时，我先用容量平衡重分配把 pair 碰撞降到 0，再给辅助损失增加首个 Epoch 线性 warm-up，并比较 0.02 和 0.05 两档权重。0.02 的综合分恢复到 0.08346，与无 SID 的差值只有 +0.14%，配对区间跨 0，所以最终结论是修复到持平。0.05 的 Beam 生成召回更好，但全候选排序略低，说明两个目标之间存在权衡。为了避免把评测处理误写成模型提升，我还用四个既有 checkpoint 补齐候选过滤和历史过滤的对齐重评。同一控制 checkpoint 变化 +2.61%，这是协议效应；掩码和 SID 的模型对照区间都跨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来源：metrics/onepiece_alignment_comparison.json；metrics/onepiece_followup_comparison.json；docs/ONEPIECE_SID_RESULTS.md；docs/ONEPIECE_ALIGNMENT_RESULTS.md。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dc388ffa4b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ebb62e69d34912" /><Relationship Type="http://schemas.openxmlformats.org/officeDocument/2006/relationships/slideLayout" Target="/ppt/slideLayouts/slideLayout1.xml" Id="R8696e1cf569c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96e1cf569c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5936fcfe4156" /><Relationship Type="http://schemas.openxmlformats.org/officeDocument/2006/relationships/notesSlide" Target="/ppt/notesSlides/notesSlide1.xml" Id="Ra13550289bd3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2824c48034079" /><Relationship Type="http://schemas.openxmlformats.org/officeDocument/2006/relationships/chart" Target="/ppt/slides/charts/chart1.xml" Id="R88d5d8c32dee462f" /><Relationship Type="http://schemas.openxmlformats.org/officeDocument/2006/relationships/notesSlide" Target="/ppt/notesSlides/notesSlide2.xml" Id="R69b682b905a4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7dec95f64c30" /><Relationship Type="http://schemas.openxmlformats.org/officeDocument/2006/relationships/chart" Target="/ppt/slides/charts/chart2.xml" Id="R7bada29b79b54744" /><Relationship Type="http://schemas.openxmlformats.org/officeDocument/2006/relationships/notesSlide" Target="/ppt/notesSlides/notesSlide3.xml" Id="R372c082c4c044e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综合分</c:v>
          </c:tx>
          <c:spPr>
            <a:solidFill xmlns:a="http://schemas.openxmlformats.org/drawingml/2006/main">
              <a:srgbClr val="008A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5C667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2B8A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08A8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743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T-4×128</c:v>
                </c:pt>
                <c:pt idx="1">
                  <c:v>H-4×128</c:v>
                </c:pt>
                <c:pt idx="2">
                  <c:v>H-8×256</c:v>
                </c:pt>
                <c:pt idx="3">
                  <c:v>H-8×512</c:v>
                </c:pt>
              </c:strCache>
            </c:strRef>
          </c:cat>
          <c:val>
            <c:numRef>
              <c:f>'Chart Data'!$B$2:$B$5</c:f>
              <c:numCache>
                <c:formatCode>0.00000</c:formatCode>
                <c:ptCount val="4"/>
                <c:pt idx="0">
                  <c:v>0.0637291</c:v>
                </c:pt>
                <c:pt idx="1">
                  <c:v>0.0663408</c:v>
                </c:pt>
                <c:pt idx="2">
                  <c:v>0.0760805</c:v>
                </c:pt>
                <c:pt idx="3">
                  <c:v>0.0833458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6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6CE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9D6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5F2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2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综合分</c:v>
          </c:tx>
          <c:spPr>
            <a:solidFill xmlns:a="http://schemas.openxmlformats.org/drawingml/2006/main">
              <a:srgbClr val="008A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08A8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4D4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7743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99A2E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无 SID</c:v>
                </c:pt>
                <c:pt idx="1">
                  <c:v>旧 SID
碰撞 + 等权</c:v>
                </c:pt>
                <c:pt idx="2">
                  <c:v>SID 0.02
零碰撞</c:v>
                </c:pt>
                <c:pt idx="3">
                  <c:v>SID 0.05
零碰撞</c:v>
                </c:pt>
              </c:strCache>
            </c:strRef>
          </c:cat>
          <c:val>
            <c:numRef>
              <c:f>'Chart Data'!$B$2:$B$5</c:f>
              <c:numCache>
                <c:formatCode>0.00000</c:formatCode>
                <c:ptCount val="4"/>
                <c:pt idx="0">
                  <c:v>0.0833458</c:v>
                </c:pt>
                <c:pt idx="1">
                  <c:v>0.0784571</c:v>
                </c:pt>
                <c:pt idx="2">
                  <c:v>0.0834596</c:v>
                </c:pt>
                <c:pt idx="3">
                  <c:v>0.0827533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7212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6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85"/>
          <c:min val="0.0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6CE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9D6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025"/>
      </c:valAx>
      <c:spPr>
        <a:solidFill xmlns:a="http://schemas.openxmlformats.org/drawingml/2006/main">
          <a:srgbClr val="F5F2E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2E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9803B-0287-42AE-90A0-756ADDF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8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720BB-72B8-40B5-9613-059DB432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TencentGR-1M 生成式推荐复现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76B54-32EA-44BC-B03E-1B31FF4B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rPr>
              <a:t>把比赛 Baseline 整理为可审计、可复算、可发布的实验系统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9852B-9D47-4EC9-969B-ED1D8EB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100 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DAEAB-D700-4854-A6E3-78E7256F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62981-3DC3-4C50-BF65-68B83596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3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478 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072D4-E052-47E8-9F4E-A990BE1D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76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Item 索引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201B7-B6C0-48EF-9FC9-4C39C9A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66 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CC822-4AF4-4B55-9809-2ADD6F24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官方候选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375A1-9F83-4467-8FAD-18CC0A0D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3355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rPr>
              <a:t>78,921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B2FFE-648B-431A-A61A-29C870A9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76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固定评测用户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87808-DC9B-49C5-AA12-E2DD1E21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rPr>
              <a:t>固定协议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7ABB1-72E6-4132-96AD-9F4F41C6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01  最后点击留出与 ID 对齐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D2D97-D2AB-4479-9288-127BA6C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02  HSTU / InfoNCE 受控训练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C126A-AF3D-4380-8D6B-83C78035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03  分块精确内积 Top-10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8E7EE-82AF-40E6-8DD3-B4BD8CCE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04  逐行统计与 SHA-256 回读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52C25-B2C5-44BE-BC95-26B892C1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4C891-283E-45C6-9FF0-B56A870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代码、配置、预测、指标和哈希一一绑定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E1496-7A00-437A-B43F-27653A9F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每个结论都能回到机器可读产物；公开仓库与大权重按许可分层发布。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CB58B-837C-4CE1-B6F7-5B3C6B3D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721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4D42"/>
                </a:solidFill>
                <a:latin typeface="Microsoft YaHei"/>
                <a:ea typeface="Microsoft YaHei"/>
                <a:cs typeface="Microsoft YaHei"/>
              </a:rPr>
              <a:t>公开离线复现，不对应官方榜单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797F8-889B-4AC6-B112-C3DC1F9D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项目来源：TencentGR-1M 官方 Baseline 与固定提交的公开 OnePiece 方法</a:t>
            </a:r>
          </a:p>
        </p:txBody>
      </p:sp>
    </p:spTree>
    <p:extLst>
      <p:ext uri="{BB962C8B-B14F-4D97-AF65-F5344CB8AC3E}">
        <p14:creationId xmlns:p14="http://schemas.microsoft.com/office/powerpoint/2010/main" val="640256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A368F-8270-4ADB-A7F0-7D9B7CF4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8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EE25A-43DD-49C5-9107-4A890719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同协议对照分开回答架构与容量问题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BF9AC-850C-4523-88B9-28E62FA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固定 seed 综合分，78,921 个用户与 66 万候选逐行对齐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BFB8A-3F15-4746-B9D3-8E6076D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综合分（0–0.09）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52450" y="1695450"/>
          <a:ext xmlns:a="http://schemas.openxmlformats.org/drawingml/2006/main" cx="75247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d5d8c32dee462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347D4-F53B-4CD5-A2DE-34B4AB61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526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rPr>
              <a:t>+4.10%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ADF91-D29C-4BCF-A4F6-BD4AB7A2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HSTU 4×128 相对同预算 Transformer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C751C-682F-4AE3-BBFE-23AD0C8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338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rPr>
              <a:t>+25.63%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59EC7-B1D6-4E53-9874-A6E6F7A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00550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HSTU 8×512 相对 4×128 的整体容量扩展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AF02E-6226-4F8C-B47B-5C9992E0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T 代表 Transformer，H 代表 HSTU。架构对照只切换编码器，容量实验同时改变深度与宽度。</a:t>
            </a:r>
          </a:p>
        </p:txBody>
      </p:sp>
    </p:spTree>
    <p:extLst>
      <p:ext uri="{BB962C8B-B14F-4D97-AF65-F5344CB8AC3E}">
        <p14:creationId xmlns:p14="http://schemas.microsoft.com/office/powerpoint/2010/main" val="2136347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6ACCD-D48C-4C1A-B3C5-558B9C46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8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5AB12-AB3A-4607-8064-5F66FE61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SID 负结果形成了完整诊断闭环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A9823-0A0B-4874-9DF2-D4C3FAE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525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历史协议综合分（纵轴从 0.075 起）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495425"/>
          <a:ext xmlns:a="http://schemas.openxmlformats.org/drawingml/2006/main" cx="6667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ada29b79b5474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848B3-55B7-4C6C-A739-CE6B2E4D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47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4D42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5898B-C87D-4D7D-A780-3A726F3D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476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225 万 pair 碰撞</a:t>
            </a:r>
          </a:p>
          <a:p xmlns:a="http://schemas.openxmlformats.org/drawingml/2006/main">
            <a:pPr algn="l"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辅助损失等权加入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B885A-0D4A-48EF-8F3E-C0F9A2F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8A83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86577-F32B-4E94-A637-B333043A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00400"/>
            <a:ext cx="3476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零碰撞映射</a:t>
            </a:r>
          </a:p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首个 Epoch warm-up</a:t>
            </a:r>
          </a:p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0.02 / 0.05 权重对照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8D81F-4475-4C54-BA21-BA52E364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7743A"/>
                </a:solidFill>
                <a:latin typeface="Microsoft YaHei"/>
                <a:ea typeface="Microsoft YaHei"/>
                <a:cs typeface="Microsoft YaHei"/>
              </a:rPr>
              <a:t>结论边界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A688A-413E-4697-8186-5CFBBA3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9110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-5.87% 修复到统计持平</a:t>
            </a:r>
          </a:p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0.02 对控制组仅 +0.14%</a:t>
            </a:r>
          </a:p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配对区间跨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C7B85-FBD9-42ED-A8D7-867691E4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C6670"/>
                </a:solidFill>
                <a:latin typeface="Microsoft YaHei"/>
                <a:ea typeface="Microsoft YaHei"/>
                <a:cs typeface="Microsoft YaHei"/>
              </a:rPr>
              <a:t>对齐协议中，SID 与掩码相对控制组的区间同样跨 0；协议变化不计作模型提升。</a:t>
            </a:r>
          </a:p>
        </p:txBody>
      </p:sp>
    </p:spTree>
    <p:extLst>
      <p:ext uri="{BB962C8B-B14F-4D97-AF65-F5344CB8AC3E}">
        <p14:creationId xmlns:p14="http://schemas.microsoft.com/office/powerpoint/2010/main" val="877409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2026-09-12T12:22:08.1860000Z</dcterms:created>
  <dcterms:modified xsi:type="dcterms:W3CDTF">2026-09-12T12:22:08.1860000Z</dcterms:modified>
</coreProperties>
</file>