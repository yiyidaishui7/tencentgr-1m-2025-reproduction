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4b5802f4d747d2" /><Relationship Type="http://schemas.openxmlformats.org/officeDocument/2006/relationships/extended-properties" Target="/docProps/app.xml" Id="Rc69ade44958d4bbd" /><Relationship Type="http://schemas.openxmlformats.org/officeDocument/2006/relationships/officeDocument" Target="/ppt/presentation.xml" Id="R99f8659039194c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c38021fa954e85"/>
  </p:sldMasterIdLst>
  <p:notesMasterIdLst>
    <p:notesMasterId xmlns:r="http://schemas.openxmlformats.org/officeDocument/2006/relationships" r:id="Rbcd843f347424eed"/>
  </p:notesMasterIdLst>
  <p:sldIdLst>
    <p:sldId xmlns:r="http://schemas.openxmlformats.org/officeDocument/2006/relationships" id="256" r:id="R36daebc85a854339"/>
    <p:sldId xmlns:r="http://schemas.openxmlformats.org/officeDocument/2006/relationships" id="257" r:id="R5829f0c6de954495"/>
    <p:sldId xmlns:r="http://schemas.openxmlformats.org/officeDocument/2006/relationships" id="258" r:id="R563b1676a8cc4fc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e6cb65edd94ed8" /><Relationship Type="http://schemas.openxmlformats.org/officeDocument/2006/relationships/slideMaster" Target="/ppt/slideMasters/slideMaster1.xml" Id="R03c38021fa954e85" /><Relationship Type="http://schemas.openxmlformats.org/officeDocument/2006/relationships/notesMaster" Target="/ppt/notesMasters/notesMaster1.xml" Id="Rbcd843f347424eed" /><Relationship Type="http://schemas.openxmlformats.org/officeDocument/2006/relationships/presProps" Target="/ppt/presProps.xml" Id="R2202cf3c7216459c" /><Relationship Type="http://schemas.openxmlformats.org/officeDocument/2006/relationships/tableStyles" Target="/ppt/tableStyles.xml" Id="Rc0c85c8d3c7a4d1d" /><Relationship Type="http://schemas.openxmlformats.org/officeDocument/2006/relationships/slide" Target="/ppt/slides/slide1.xml" Id="R36daebc85a854339" /><Relationship Type="http://schemas.openxmlformats.org/officeDocument/2006/relationships/slide" Target="/ppt/slides/slide2.xml" Id="R5829f0c6de954495" /><Relationship Type="http://schemas.openxmlformats.org/officeDocument/2006/relationships/slide" Target="/ppt/slides/slide3.xml" Id="R563b1676a8cc4f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455e7d017b40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61431403ac40c6" /><Relationship Type="http://schemas.openxmlformats.org/officeDocument/2006/relationships/notesMaster" Target="/ppt/notesMasters/notesMaster1.xml" Id="R4494fd53f5e540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5a7f96f60443d6" /><Relationship Type="http://schemas.openxmlformats.org/officeDocument/2006/relationships/notesMaster" Target="/ppt/notesMasters/notesMaster1.xml" Id="R13d489adec0f4e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2e403180234d8d" /><Relationship Type="http://schemas.openxmlformats.org/officeDocument/2006/relationships/notesMaster" Target="/ppt/notesMasters/notesMaster1.xml" Id="R803ded2316824d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 页｜建议 2 分钟。</a:t>
            </a:r>
          </a:p>
          <a:p xmlns:a="http://schemas.openxmlformats.org/drawingml/2006/main">
            <a:r>
              <a:t>这个项目想解决一个直接的问题：看一个人过去的行为，预测他下一次会点什么。数据约有 100 万用户和 478 万个对象索引，但这一轮评测只在官方给定的 66 万候选里选择，这两个数量不能混用。</a:t>
            </a:r>
          </a:p>
          <a:p xmlns:a="http://schemas.openxmlformats.org/drawingml/2006/main">
            <a:r>
              <a:t>我先把验证用户的最后一次点击留作答案。模型只能看到这次点击之前的记录，不能把答案或后来的记录提前放进去。固定划分得到 100,184 名验证用户，排除 1,745 名没有有效点击的用户，以及 19,518 名目标不在候选池中的用户，最后评测 78,921 人。</a:t>
            </a:r>
          </a:p>
          <a:p xmlns:a="http://schemas.openxmlformats.org/drawingml/2006/main">
            <a:r>
              <a:t>模型分两边处理：用户侧用 HSTU 读历史，得到表示兴趣的数字向量；对象侧把 ID 和稀疏属性变成另一组向量。两组归一化向量做内积，得到匹配分数。评测时每批处理 128 个用户，和全部 66 万候选算分，只留下前 10 个，因此不需要一次存下所有用户与所有候选的完整分数矩阵。</a:t>
            </a:r>
          </a:p>
          <a:p xmlns:a="http://schemas.openxmlformats.org/drawingml/2006/main">
            <a:r>
              <a:t>HR@10 问的是答案有没有进入前 10，NDCG@10 还会看答案排得有多靠前。8×512 模型的 HR@10 是 0.120817，可以近似理解成每 100 个评测用户，约 12 个用户的真实下一条出现在前 10。综合分按 0.31 和 0.69 加权，不是点击率，也不是线上业务指标。</a:t>
            </a:r>
          </a:p>
          <a:p xmlns:a="http://schemas.openxmlformats.org/drawingml/2006/main">
            <a:r>
              <a:t>我的工作重点是训练复现、受控对照、SID 故障排查和结果核验。上游方法来自腾讯 Baseline 和 OnePiece，不把它们当成个人原创。</a:t>
            </a:r>
          </a:p>
          <a:p xmlns:a="http://schemas.openxmlformats.org/drawingml/2006/main">
            <a:r>
              <a:t>转场：把数据和评分规则固定下来之后，再看换模型和扩大模型有没有帮助。</a:t>
            </a:r>
          </a:p>
          <a:p xmlns:a="http://schemas.openxmlformats.org/drawingml/2006/main">
            <a:r>
              <a:t>精确规模：1,001,845 用户；4,783,154 个 Item 索引；660,000 候选；78,921 个评测用户。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证据来源（仓库相对路径）：</a:t>
            </a:r>
          </a:p>
          <a:p xmlns:a="http://schemas.openxmlformats.org/drawingml/2006/main">
            <a:r>
              <a:t>docs/ONEPIECE_REPRODUCTION_CN.md</a:t>
            </a:r>
          </a:p>
          <a:p xmlns:a="http://schemas.openxmlformats.org/drawingml/2006/main">
            <a:r>
              <a:t>docs/ONEPIECE_RESULTS.md</a:t>
            </a:r>
          </a:p>
          <a:p xmlns:a="http://schemas.openxmlformats.org/drawingml/2006/main">
            <a:r>
              <a:t>docs/ONEPIECE_SCALING_RESULTS.md</a:t>
            </a:r>
          </a:p>
          <a:p xmlns:a="http://schemas.openxmlformats.org/drawingml/2006/main">
            <a:r>
              <a:t>docs/ARCHITECTURE_AND_EXPERIMENTS_CN.md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 页｜建议 2 分钟。</a:t>
            </a:r>
          </a:p>
          <a:p xmlns:a="http://schemas.openxmlformats.org/drawingml/2006/main">
            <a:r>
              <a:t>这页先解释三个名词。HSTU 是读历史的序列模块，可以理解为给不同历史记录分配权重，再用一个门控控制保留的信息。InfoNCE 是训练要求：把真实下一条的分数拉高，让它高于同一批里其他对象的分数。LogQ 处理抽样偏差：热门对象在训练中更容易出现，所以按训练频率做校正。它不等于简单压低热门推荐，也不能直接宣称解决了公平性问题。</a:t>
            </a:r>
          </a:p>
          <a:p xmlns:a="http://schemas.openxmlformats.org/drawingml/2006/main">
            <a:r>
              <a:t>我做了两类实验。第一类只换处理历史的模块，使用 4 层、128 维，其他特征、训练批大小 32、训练轮数 6、优化器和评测规则保持一致。Transformer 综合分 0.0637291，HSTU 0.0663408，相对提高 4.10%。这是固定训练 seed 下的架构对照结果。逐用户配对差值的 95% 区间为 [0.0017145,0.0035089]，只反映当前固定模型在这些用户上的差异，不反映多次训练的波动。</a:t>
            </a:r>
          </a:p>
          <a:p xmlns:a="http://schemas.openxmlformats.org/drawingml/2006/main">
            <a:r>
              <a:t>第二类扩大 HSTU，分数从 4×128 的 0.0663408，到 8×256 的 0.0760805，再到 8×512 的 0.0833458。最大配置比最小配置提高 25.63%。这里同时加深和加宽，只能说扩大整体容量有效，不能说是哪一项单独贡献了提升。</a:t>
            </a:r>
          </a:p>
          <a:p xmlns:a="http://schemas.openxmlformats.org/drawingml/2006/main">
            <a:r>
              <a:t>资源表也要一起看。HSTU 从 4×128 到 8×512，记录中的训练时间从 78.6 分钟增加到 180.8 分钟，显存峰值从 9.23 GiB 增加到 26.16 GiB。它说明效果和资源消耗一起增加；这些是对应实验运行记录，不是跨硬件的速度基准，也没有测成线上响应时间。</a:t>
            </a:r>
          </a:p>
          <a:p xmlns:a="http://schemas.openxmlformats.org/drawingml/2006/main">
            <a:r>
              <a:t>转场：选定更强的 8×512 对照组以后，我继续检查增加语义 ID 辅助任务是否有收益。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证据来源（仓库相对路径）：</a:t>
            </a:r>
          </a:p>
          <a:p xmlns:a="http://schemas.openxmlformats.org/drawingml/2006/main">
            <a:r>
              <a:t>metrics/onepiece_architecture_comparison.json</a:t>
            </a:r>
          </a:p>
          <a:p xmlns:a="http://schemas.openxmlformats.org/drawingml/2006/main">
            <a:r>
              <a:t>metrics/onepiece_scaling_comparison.json</a:t>
            </a:r>
          </a:p>
          <a:p xmlns:a="http://schemas.openxmlformats.org/drawingml/2006/main">
            <a:r>
              <a:t>docs/ONEPIECE_RESULTS.md</a:t>
            </a:r>
          </a:p>
          <a:p xmlns:a="http://schemas.openxmlformats.org/drawingml/2006/main">
            <a:r>
              <a:t>docs/ONEPIECE_SCALING_RESULTS.md</a:t>
            </a:r>
          </a:p>
          <a:p xmlns:a="http://schemas.openxmlformats.org/drawingml/2006/main">
            <a:r>
              <a:t>docs/ONEPIECE_INTERVIEW_CN.md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3 页｜建议 2–3 分钟。</a:t>
            </a:r>
          </a:p>
          <a:p xmlns:a="http://schemas.openxmlformats.org/drawingml/2006/main">
            <a:r>
              <a:t>SID 可以先理解成对象的一组短编号。这里从已经训练好的对象向量出发，用两级残差聚类，每级 4,096 个编码，把每个对象变成两个数字，再让模型额外学习预测这两个数字。主任务仍然是推荐下一条。</a:t>
            </a:r>
          </a:p>
          <a:p xmlns:a="http://schemas.openxmlformats.org/drawingml/2006/main">
            <a:r>
              <a:t>第一轮出现了两个排查线索：4,783,154 个对象只有 2,533,113 个不同编号组合，相减得到 2,250,041 个重复占用；它不是两两冲突配对数。与此同时，两个辅助损失被等权加入，总损失从第 3 轮约 24.91 反弹到 42–44。排序综合分从无 SID 的 0.0833458 降到 0.0784571，相对下降 5.87%。这些现象提示编号和训练目标需要排查，但不能单独证明每一项造成了多少下降。</a:t>
            </a:r>
          </a:p>
          <a:p xmlns:a="http://schemas.openxmlformats.org/drawingml/2006/main">
            <a:r>
              <a:t>我重新分配重复编号，把每个对象对应到不同的编号组合；再把辅助损失权重设为 0.02 或 0.05，并在第一个训练轮次从 0 线性升到目标权重，避免一开始就用完整强度加入辅助任务。两档新权重之间才是固定其余条件的对照；旧版和新版同时改变了多项。</a:t>
            </a:r>
          </a:p>
          <a:p xmlns:a="http://schemas.openxmlformats.org/drawingml/2006/main">
            <a:r>
              <a:t>结果是 0.02 版综合分 0.0834596，约为图上的 0.08346，相对无 SID 高 0.14%；0.05 版为 0.0827533，相对低 0.71%。0.02 的逐用户配对 95% 差值区间是 [-0.0007888,0.0010164]，包含 0，所以准确说法是明显退化被修复、得分接近原水平，尚未证明额外收益。区间含 0 也不等于已经证明两者严格等价。</a:t>
            </a:r>
          </a:p>
          <a:p xmlns:a="http://schemas.openxmlformats.org/drawingml/2006/main">
            <a:r>
              <a:t>我还用同一个已保存模型更换评测过滤规则，分数从 0.0833458 变成 0.0855212，高了 2.61%。没有重新训练模型，所以这部分来自候选池和历史过滤的变化，不能计入模型优化收益。</a:t>
            </a:r>
          </a:p>
          <a:p xmlns:a="http://schemas.openxmlformats.org/drawingml/2006/main">
            <a:r>
              <a:t>这个项目让我积累的核心经验是：先把实验条件和输出核对清楚，再解释数字。下一步优先做多个训练 seed，并分别检验编号、权重和预热的独立影响。</a:t>
            </a:r>
          </a:p>
          <a:p xmlns:a="http://schemas.openxmlformats.org/drawingml/2006/main">
            <a:r>
              <a:t>实现边界：零碰撞映射使用全局 residual 近似，存在跨 L1 重分配；不声称严格复现上游层级 SID，映射生成脚本当前不在公开仓库。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证据来源（仓库相对路径）：</a:t>
            </a:r>
          </a:p>
          <a:p xmlns:a="http://schemas.openxmlformats.org/drawingml/2006/main">
            <a:r>
              <a:t>metrics/onepiece_alignment_comparison.json</a:t>
            </a:r>
          </a:p>
          <a:p xmlns:a="http://schemas.openxmlformats.org/drawingml/2006/main">
            <a:r>
              <a:t>metrics/onepiece_followup_comparison.json</a:t>
            </a:r>
          </a:p>
          <a:p xmlns:a="http://schemas.openxmlformats.org/drawingml/2006/main">
            <a:r>
              <a:t>docs/ONEPIECE_SID_RESULTS.md</a:t>
            </a:r>
          </a:p>
          <a:p xmlns:a="http://schemas.openxmlformats.org/drawingml/2006/main">
            <a:r>
              <a:t>docs/ONEPIECE_ALIGNMENT_RESULTS.md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89ad476db149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f062f12ac541b6" /><Relationship Type="http://schemas.openxmlformats.org/officeDocument/2006/relationships/slideLayout" Target="/ppt/slideLayouts/slideLayout1.xml" Id="R24021969debf46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21969debf46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3f31a240d45e3" /><Relationship Type="http://schemas.openxmlformats.org/officeDocument/2006/relationships/notesSlide" Target="/ppt/notesSlides/notesSlide1.xml" Id="R1f405ba3efbb48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7a4c4c335433d" /><Relationship Type="http://schemas.openxmlformats.org/officeDocument/2006/relationships/chart" Target="/ppt/slides/charts/chart1.xml" Id="R5b6a33707d1a4ad4" /><Relationship Type="http://schemas.openxmlformats.org/officeDocument/2006/relationships/notesSlide" Target="/ppt/notesSlides/notesSlide2.xml" Id="R479e9305fe0949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3ebe7645a404c" /><Relationship Type="http://schemas.openxmlformats.org/officeDocument/2006/relationships/chart" Target="/ppt/slides/charts/chart2.xml" Id="R83a2c9825e68409d" /><Relationship Type="http://schemas.openxmlformats.org/officeDocument/2006/relationships/notesSlide" Target="/ppt/notesSlides/notesSlide3.xml" Id="Rdb3137d853a84b1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综合分</c:v>
          </c:tx>
          <c:spPr>
            <a:solidFill xmlns:a="http://schemas.openxmlformats.org/drawingml/2006/main">
              <a:srgbClr val="008A83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5C667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2B8A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08A8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E7743A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T-4×128</c:v>
                </c:pt>
                <c:pt idx="1">
                  <c:v>H-4×128</c:v>
                </c:pt>
                <c:pt idx="2">
                  <c:v>H-8×256</c:v>
                </c:pt>
                <c:pt idx="3">
                  <c:v>H-8×512</c:v>
                </c:pt>
              </c:strCache>
            </c:strRef>
          </c:cat>
          <c:val>
            <c:numRef>
              <c:f>'Chart Data'!$B$2:$B$5</c:f>
              <c:numCache>
                <c:formatCode>0.00000</c:formatCode>
                <c:ptCount val="4"/>
                <c:pt idx="0">
                  <c:v>0.0637291</c:v>
                </c:pt>
                <c:pt idx="1">
                  <c:v>0.0663408</c:v>
                </c:pt>
                <c:pt idx="2">
                  <c:v>0.0760805</c:v>
                </c:pt>
                <c:pt idx="3">
                  <c:v>0.0833458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 b="1">
                  <a:solidFill>
                    <a:srgbClr val="17212B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6C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0.09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6CE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9D6C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0.03"/>
      </c:valAx>
      <c:spPr>
        <a:solidFill xmlns:a="http://schemas.openxmlformats.org/drawingml/2006/main">
          <a:srgbClr val="F5F2E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5F2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综合分</c:v>
          </c:tx>
          <c:spPr>
            <a:solidFill xmlns:a="http://schemas.openxmlformats.org/drawingml/2006/main">
              <a:srgbClr val="008A83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008A8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C84D42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774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C99A2E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无 SID</c:v>
                </c:pt>
                <c:pt idx="1">
                  <c:v>旧 SID
碰撞 + 等权</c:v>
                </c:pt>
                <c:pt idx="2">
                  <c:v>SID 0.02
零碰撞</c:v>
                </c:pt>
                <c:pt idx="3">
                  <c:v>SID 0.05
零碰撞</c:v>
                </c:pt>
              </c:strCache>
            </c:strRef>
          </c:cat>
          <c:val>
            <c:numRef>
              <c:f>'Chart Data'!$B$2:$B$5</c:f>
              <c:numCache>
                <c:formatCode>0.00000</c:formatCode>
                <c:ptCount val="4"/>
                <c:pt idx="0">
                  <c:v>0.0833458</c:v>
                </c:pt>
                <c:pt idx="1">
                  <c:v>0.0784571</c:v>
                </c:pt>
                <c:pt idx="2">
                  <c:v>0.0834596</c:v>
                </c:pt>
                <c:pt idx="3">
                  <c:v>0.0827533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6C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0.085"/>
          <c:min val="0.07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6CE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9D6C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0.0025"/>
      </c:valAx>
      <c:spPr>
        <a:solidFill xmlns:a="http://schemas.openxmlformats.org/drawingml/2006/main">
          <a:srgbClr val="F5F2E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5F2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4D1829-2DED-4094-B52A-D8085A7F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TencentGR-1M：用过去的行为推荐下一条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9C5A1-D3C2-4549-9634-5AA24107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52500"/>
            <a:ext cx="1110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任务与评测｜输入用户历史，给候选对象打分，输出最可能被点击的前 10 个。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5B688-DB15-455E-AC23-90A4D027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957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C07E9-11E1-41FC-8D00-BE7EF64C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100 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53CD0-A148-4626-ADA1-1558BE99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71675"/>
            <a:ext cx="2524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用户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B2910-146E-4E2B-8C33-678FD991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95425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478 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1ADBE1-FF4E-48C0-BD57-346D4F07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71675"/>
            <a:ext cx="2524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对象索引（Item）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630B8-EC3B-43D7-84B8-CA6B0D3E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495425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66 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48AC79-3F12-4115-B95A-913FD293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71675"/>
            <a:ext cx="2524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本轮评测候选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E00511-0323-4999-9CD5-EAA250A8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495425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77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E7743A"/>
                </a:solidFill>
                <a:latin typeface="Microsoft YaHei"/>
                <a:ea typeface="Microsoft YaHei"/>
                <a:cs typeface="Microsoft YaHei"/>
              </a:rPr>
              <a:t>78,921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DD996-E863-47C0-B7AA-CF2FABE1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71675"/>
            <a:ext cx="2524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固定评测用户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8CE571-054D-459C-B622-7A733D31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554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从历史行为得到推荐结果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99E326-0FCD-4C3D-98BE-CE0951D0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2275"/>
            <a:ext cx="561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① 留出答案：最后一次点击作为目标，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    只把它之前的记录给模型。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D9CDA-85D3-4CCF-8938-6E40A312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48075"/>
            <a:ext cx="561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② 用户侧：用 HSTU 汇总历史兴趣；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    对象侧：把 ID 和属性变成数字向量。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BD32A9-D50A-456E-9C08-4A781E01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561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③ 计算匹配分数：每批处理 128 个用户，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    遍历 66 万候选，留下得分最高的 10 个。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AD180B-55BB-4B8E-81CD-9AC1C63F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19675"/>
            <a:ext cx="561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④ 保存结果：用户、目标、预测逐行对应，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    同时留存配置和文件校验值。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F38F61-1EEE-4BAD-90C7-9F25268E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509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怎样判断推荐得好不好？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8C9C1-A070-4832-A665-805B86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81325"/>
            <a:ext cx="5095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HR@10：有没有推荐到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E7FBF9-9CAA-4B1A-8FE7-F489E927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43275"/>
            <a:ext cx="5095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真实目标进入前 10 的用户比例。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8×512 模型约为 12.08%。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B4057D-491B-44A0-B4D0-E549020D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14800"/>
            <a:ext cx="5095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NDCG@10：推荐得够不够靠前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5FAEBF-0669-4569-9FF9-88DC3F16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86275"/>
            <a:ext cx="5095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目标排得越靠前，得分越高。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B9171F-AAB1-476A-914C-B24B3820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53000"/>
            <a:ext cx="5095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综合分 = 0.31 × HR + 0.69 × NDCG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BD3460-72B4-4025-AE3D-35AB3FE0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81625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各模型使用相同用户、候选和过滤规则。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8D2A75-173B-4A6A-A5E4-2D47841E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1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我的工作：复现训练、设计对照、修复 SID、核对评测与交付。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D6FCCC-BD2B-4B8A-BB5A-FDD758A0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865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基于腾讯官方 Baseline 与公开 OnePiece 方法的离线复现；不是官方榜单成绩。精确数量与来源见备注。</a:t>
            </a:r>
          </a:p>
        </p:txBody>
      </p:sp>
    </p:spTree>
    <p:extLst>
      <p:ext uri="{BB962C8B-B14F-4D97-AF65-F5344CB8AC3E}">
        <p14:creationId xmlns:p14="http://schemas.microsoft.com/office/powerpoint/2010/main" val="640256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534025" y="1943100"/>
          <a:ext xmlns:a="http://schemas.openxmlformats.org/drawingml/2006/main" cx="6191250" cy="2219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6a33707d1a4ad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CF46A0-94DE-48C8-BD87-03EBC114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模型方法与结果：结构对照 + 容量扩展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F9E7E6-5669-4C23-8E91-6E9530D2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52500"/>
            <a:ext cx="1110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4×128 表示 4 层、向量维度 128；模型对照固定数据、训练设置和评测规则。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B50AF8-A8FB-4AFE-B61D-CCD628FA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957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78218-FE45-4CF9-828A-FBA9624C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三个术语，用一句话说清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8B0929-F29F-4E12-94E5-A9F91187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4714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HSTU｜处理历史记录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7157DD-6169-43F7-88CA-A5E2C7B4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4743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给历史记录分配权重，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再用门控决定保留多少信息。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26F38E-C040-45F9-91AB-AC69A42E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4714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InfoNCE｜模型怎样学习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58750-B181-45BB-AA0A-4027418C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0"/>
            <a:ext cx="4743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让真实下一条的分数，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高于同一批中的其他对象。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11EF3B-72A0-48FE-B302-D0FF4A52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29125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LogQ｜校正热门对象的抽样偏差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E218C-AAE7-467C-937D-FC8291CF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29175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按训练中的出现频率做校正，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减小热门对象更常被抽到的偏差。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6ED2D3-7803-4858-9AF7-69C8E2CD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007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同规模换结构：+4.10%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0DC027-CE32-4E49-882A-B07B94B0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77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E7743A"/>
                </a:solidFill>
                <a:latin typeface="Microsoft YaHei"/>
                <a:ea typeface="Microsoft YaHei"/>
                <a:cs typeface="Microsoft YaHei"/>
              </a:rPr>
              <a:t>同时加深、加宽：+25.63%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AA89D1-B9C7-44AF-B85A-6870B83E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504950"/>
            <a:ext cx="614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综合分与资源开销</a:t>
            </a:r>
          </a:p>
        </p:txBody>
      </p:sp>
      <p:graphicFrame>
        <p:nvGraphicFramePr>
          <p:cNvPr id="42" name=""/>
          <p:cNvGraphicFramePr/>
          <p:nvPr/>
        </p:nvGraphicFramePr>
        <p:xfrm>
          <a:off xmlns:a="http://schemas.openxmlformats.org/drawingml/2006/main" x="5572125" y="4381500"/>
          <a:ext xmlns:a="http://schemas.openxmlformats.org/drawingml/2006/main" cx="6143625" cy="18573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600325"/>
                <a:gridCol w="1657350"/>
                <a:gridCol w="1885950"/>
              </a:tblGrid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008A8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模型</a:t>
                      </a:r>
                    </a:p>
                  </a:txBody>
                  <a:tcPr marL="91440" marR="91440" marT="45720" marB="45720" anchor="ctr">
                    <a:solidFill>
                      <a:srgbClr val="E4EB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8A8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 / 分钟</a:t>
                      </a:r>
                    </a:p>
                  </a:txBody>
                  <a:tcPr marL="91440" marR="91440" marT="45720" marB="45720" anchor="ctr">
                    <a:solidFill>
                      <a:srgbClr val="E4EB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8A8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显存峰值 / GiB</a:t>
                      </a:r>
                    </a:p>
                  </a:txBody>
                  <a:tcPr marL="91440" marR="91440" marT="45720" marB="45720" anchor="ctr">
                    <a:solidFill>
                      <a:srgbClr val="E4EBE6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Transformer 4×128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81.1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9.23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HSTU 4×128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78.6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9.23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HSTU 8×256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118.6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14.84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HSTU 8×512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180.8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721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26.16</a:t>
                      </a:r>
                    </a:p>
                  </a:txBody>
                  <a:tcPr marL="91440" marR="91440" marT="45720" marB="45720"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C55564-0377-4B2D-B6FF-39329C92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865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T = Transformer，H = HSTU。每个配置只训练 1 次；深度与宽度同时变化，不能拆分各自贡献。</a:t>
            </a:r>
          </a:p>
        </p:txBody>
      </p:sp>
    </p:spTree>
    <p:extLst>
      <p:ext uri="{BB962C8B-B14F-4D97-AF65-F5344CB8AC3E}">
        <p14:creationId xmlns:p14="http://schemas.microsoft.com/office/powerpoint/2010/main" val="21363471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581650" y="1971675"/>
          <a:ext xmlns:a="http://schemas.openxmlformats.org/drawingml/2006/main" cx="6191250" cy="2752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a2c9825e68409d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551727-B78D-4EED-971A-557BA95B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SID 实验：先变差，修复后接近原水平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C9FA17-89CD-486B-9A2B-C8697E45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52500"/>
            <a:ext cx="1110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SID（语义 ID）：把对象向量压成两个数字的编号，再增加“预测编号”的训练任务。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8849E9-032A-455A-87B9-92375346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957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776FE9-C1D3-4DC4-B64C-2E4FC808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哪里出了问题？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33934B-083E-4F6F-96F1-F31BD36D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71675"/>
            <a:ext cx="49911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同一编号对应多个对象：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重复占用数达 225 万；辅助任务等权加入。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CB363B-2700-44CA-8516-4D5570F17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49911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总损失先降后升，怀疑影响了主任务；</a:t>
            </a:r>
          </a:p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这些是排查线索，不能单独证明原因。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28A1A-5C48-45F2-A229-DBEBF9C9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做了哪些修改？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559824-C72A-44D3-AF26-C2AAF72F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4991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重新分配编号，重复占用数降到 0。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辅助任务权重调为 0.02 / 0.05。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第一轮从 0 逐渐增加到设定权重。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371FB-F3A0-480B-8C4C-6A8733A5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修复后的结论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E3204F-2188-4A93-B8C7-19EAA71B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95950"/>
            <a:ext cx="5086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得分接近无 SID；0.02 的差异区间含 0，</a:t>
            </a:r>
          </a:p>
          <a:p xmlns:a="http://schemas.openxmlformats.org/drawingml/2006/main">
            <a:pPr algn="l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尚未证明稳定提升。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97CAF3-F5E8-40BB-B059-ECE13416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543050"/>
            <a:ext cx="590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8A83"/>
                </a:solidFill>
                <a:latin typeface="Microsoft YaHei"/>
                <a:ea typeface="Microsoft YaHei"/>
                <a:cs typeface="Microsoft YaHei"/>
              </a:rPr>
              <a:t>综合分（纵轴从 0.075 起）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8CD9B8-69A8-4115-9D17-1599B443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895850"/>
            <a:ext cx="590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相对无 SID：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38D697-F0AA-4533-A452-458AEFE9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5286375"/>
            <a:ext cx="590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77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E7743A"/>
                </a:solidFill>
                <a:latin typeface="Microsoft YaHei"/>
                <a:ea typeface="Microsoft YaHei"/>
                <a:cs typeface="Microsoft YaHei"/>
              </a:rPr>
              <a:t>旧版 −5.87%  →  0.02 版 +0.14%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755CF6-2675-4071-9A33-A15C4143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5734050"/>
            <a:ext cx="590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0.05 版为 −0.71%。本轮同时修改多项，</a:t>
            </a:r>
          </a:p>
          <a:p xmlns:a="http://schemas.openxmlformats.org/drawingml/2006/main">
            <a:pPr algn="l">
              <a:def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无法把变化单独归因于编号、权重或预热。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31F71-DBF7-4F36-8D75-49895BD0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865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C6670"/>
                </a:solidFill>
                <a:latin typeface="Microsoft YaHei"/>
                <a:ea typeface="Microsoft YaHei"/>
                <a:cs typeface="Microsoft YaHei"/>
              </a:rPr>
              <a:t>评测规则也会改分数：同一模型换候选 / 历史过滤后 +2.61%，这是规则变化，不是模型提升。</a:t>
            </a:r>
          </a:p>
        </p:txBody>
      </p:sp>
    </p:spTree>
    <p:extLst>
      <p:ext uri="{BB962C8B-B14F-4D97-AF65-F5344CB8AC3E}">
        <p14:creationId xmlns:p14="http://schemas.microsoft.com/office/powerpoint/2010/main" val="8774097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2026-09-13T07:34:19.0310000Z</dcterms:created>
  <dcterms:modified xsi:type="dcterms:W3CDTF">2026-09-13T07:34:19.0310000Z</dcterms:modified>
</coreProperties>
</file>